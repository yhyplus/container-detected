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5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Master" Target="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0" y="760000"/>
            <a:ext cx="12192000" cy="300000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60000" y="112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900">
                <a:solidFill>
                  <a:srgbClr val="DDEBFF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60000" y="1780000"/>
            <a:ext cx="96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44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机器学习系统答辩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60000" y="2700000"/>
            <a:ext cx="9800000" cy="4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400">
                <a:solidFill>
                  <a:srgbClr val="E5F0FF"/>
                </a:solidFill>
                <a:latin typeface="Microsoft YaHei"/>
                <a:ea typeface="Microsoft YaHei"/>
              </a:rPr>
              <a:t>基于 Pixie/eBPF 的 Kubernetes 异常检测系统</a:t>
            </a:r>
          </a:p>
        </p:txBody>
      </p:sp>
      <p:sp>
        <p:nvSpPr>
          <p:cNvPr id="9" name="Bullets 9"/>
          <p:cNvSpPr txBox="1"/>
          <p:nvPr/>
        </p:nvSpPr>
        <p:spPr>
          <a:xfrm>
            <a:off x="820000" y="4050000"/>
            <a:ext cx="9300000" cy="10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课程项目：云原生运行时异常检测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核心交付：数据采集、特征工程、模型训练、实时预测、Web Console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150000" y="6070000"/>
            <a:ext cx="15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400">
                <a:solidFill>
                  <a:srgbClr val="FFFFFF"/>
                </a:solidFill>
                <a:latin typeface="Microsoft YaHei"/>
                <a:ea typeface="Microsoft YaHei"/>
              </a:rPr>
              <a:t>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项目背景与问题定义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云原生应用运行在 Kubernetes 中，异常通常表现为网络、资源、DNS、HTTP 或进程行为突变。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目标不是只判断“是否异常”，还要进一步诊断异常类型，便于运维快速定位。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本项目构建可复现实验环境，采集可观测数据，训练机器学习模型，并支持一键实时检测。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50000" y="1300000"/>
            <a:ext cx="3000000" cy="13000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B7E4C7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620000" y="1540000"/>
            <a:ext cx="246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200">
                <a:b/>
                <a:solidFill>
                  <a:srgbClr val="14532D"/>
                </a:solidFill>
                <a:latin typeface="Microsoft YaHei"/>
                <a:ea typeface="Microsoft YaHei"/>
              </a:rPr>
              <a:t>任务：Pod 级 10 秒窗口异常分类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系统总体架构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实验生成器在 anomaly-test 命名空间内产生正常与异常工作负载。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Pixie 导出 process/network/http/dns 等 eBPF 观测表，实验传感器补充端口扫描与系统调用事件。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数据聚合脚本将原始事件合成为 Pod 级 10 秒特征窗口。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训练阶段对比 Scheme A Random Forest 与 Scheme B ONNX MLP，预测阶段输出 summary、predictions 与 alerts。</a:t>
            </a:r>
          </a:p>
        </p:txBody>
      </p:sp>
      <p:sp>
        <p:nvSpPr>
          <p:cNvPr id="20" name="Shape 20"/>
          <p:cNvSpPr/>
          <p:nvPr/>
        </p:nvSpPr>
        <p:spPr>
          <a:xfrm>
            <a:off x="8250000" y="1400000"/>
            <a:ext cx="2700000" cy="520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370000" y="1535000"/>
            <a:ext cx="246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700">
                <a:b/>
                <a:solidFill>
                  <a:srgbClr val="075985"/>
                </a:solidFill>
                <a:latin typeface="Microsoft YaHei"/>
                <a:ea typeface="Microsoft YaHei"/>
              </a:rPr>
              <a:t>受控场景</a:t>
            </a:r>
          </a:p>
        </p:txBody>
      </p:sp>
      <p:sp>
        <p:nvSpPr>
          <p:cNvPr id="22" name="Shape 22"/>
          <p:cNvSpPr/>
          <p:nvPr/>
        </p:nvSpPr>
        <p:spPr>
          <a:xfrm>
            <a:off x="8250000" y="2120000"/>
            <a:ext cx="2700000" cy="520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370000" y="2255000"/>
            <a:ext cx="246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700">
                <a:b/>
                <a:solidFill>
                  <a:srgbClr val="075985"/>
                </a:solidFill>
                <a:latin typeface="Microsoft YaHei"/>
                <a:ea typeface="Microsoft YaHei"/>
              </a:rPr>
              <a:t>Pixie + Sensor</a:t>
            </a:r>
          </a:p>
        </p:txBody>
      </p:sp>
      <p:sp>
        <p:nvSpPr>
          <p:cNvPr id="24" name="Shape 24"/>
          <p:cNvSpPr/>
          <p:nvPr/>
        </p:nvSpPr>
        <p:spPr>
          <a:xfrm>
            <a:off x="8250000" y="2840000"/>
            <a:ext cx="2700000" cy="520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8370000" y="2975000"/>
            <a:ext cx="246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700">
                <a:b/>
                <a:solidFill>
                  <a:srgbClr val="075985"/>
                </a:solidFill>
                <a:latin typeface="Microsoft YaHei"/>
                <a:ea typeface="Microsoft YaHei"/>
              </a:rPr>
              <a:t>10 秒窗口</a:t>
            </a:r>
          </a:p>
        </p:txBody>
      </p:sp>
      <p:sp>
        <p:nvSpPr>
          <p:cNvPr id="26" name="Shape 26"/>
          <p:cNvSpPr/>
          <p:nvPr/>
        </p:nvSpPr>
        <p:spPr>
          <a:xfrm>
            <a:off x="8250000" y="3560000"/>
            <a:ext cx="2700000" cy="520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370000" y="3695000"/>
            <a:ext cx="246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700">
                <a:b/>
                <a:solidFill>
                  <a:srgbClr val="075985"/>
                </a:solidFill>
                <a:latin typeface="Microsoft YaHei"/>
                <a:ea typeface="Microsoft YaHei"/>
              </a:rPr>
              <a:t>模型训练</a:t>
            </a:r>
          </a:p>
        </p:txBody>
      </p:sp>
      <p:sp>
        <p:nvSpPr>
          <p:cNvPr id="28" name="Shape 28"/>
          <p:cNvSpPr/>
          <p:nvPr/>
        </p:nvSpPr>
        <p:spPr>
          <a:xfrm>
            <a:off x="8250000" y="4280000"/>
            <a:ext cx="2700000" cy="520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8370000" y="4415000"/>
            <a:ext cx="246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700">
                <a:b/>
                <a:solidFill>
                  <a:srgbClr val="075985"/>
                </a:solidFill>
                <a:latin typeface="Microsoft YaHei"/>
                <a:ea typeface="Microsoft YaHei"/>
              </a:rPr>
              <a:t>实时告警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异常场景设计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normal：每秒 1 次 HTTP 请求，建立资源与流量基线。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DDoS 类：HTTP 洪泛、TCP 短连接、DNS 洪泛统一归为 ddos。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portscan：扫描隔离 Nginx Pod 的 TCP 端口。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lateral_movement：仅扫描 anomaly-test 内受控 Pod/Service 的常见端口。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resource_anomaly：持续 CPU 计算压力。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syscall_anomaly：启动非预期进程并访问 /etc/passwd。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00000" y="1350000"/>
            <a:ext cx="1420000" cy="43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370000" y="1460000"/>
            <a:ext cx="12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250">
                <a:b/>
                <a:solidFill>
                  <a:srgbClr val="3730A3"/>
                </a:solidFill>
                <a:latin typeface="Microsoft YaHei"/>
                <a:ea typeface="Microsoft YaHei"/>
              </a:rPr>
              <a:t>normal</a:t>
            </a:r>
          </a:p>
        </p:txBody>
      </p:sp>
      <p:sp>
        <p:nvSpPr>
          <p:cNvPr id="22" name="Shape 22"/>
          <p:cNvSpPr/>
          <p:nvPr/>
        </p:nvSpPr>
        <p:spPr>
          <a:xfrm>
            <a:off x="9850000" y="1350000"/>
            <a:ext cx="1420000" cy="43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9920000" y="1460000"/>
            <a:ext cx="12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250">
                <a:b/>
                <a:solidFill>
                  <a:srgbClr val="3730A3"/>
                </a:solidFill>
                <a:latin typeface="Microsoft YaHei"/>
                <a:ea typeface="Microsoft YaHei"/>
              </a:rPr>
              <a:t>ddos</a:t>
            </a:r>
          </a:p>
        </p:txBody>
      </p:sp>
      <p:sp>
        <p:nvSpPr>
          <p:cNvPr id="24" name="Shape 24"/>
          <p:cNvSpPr/>
          <p:nvPr/>
        </p:nvSpPr>
        <p:spPr>
          <a:xfrm>
            <a:off x="8300000" y="2110000"/>
            <a:ext cx="1420000" cy="43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8370000" y="2220000"/>
            <a:ext cx="12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250">
                <a:b/>
                <a:solidFill>
                  <a:srgbClr val="3730A3"/>
                </a:solidFill>
                <a:latin typeface="Microsoft YaHei"/>
                <a:ea typeface="Microsoft YaHei"/>
              </a:rPr>
              <a:t>portscan</a:t>
            </a:r>
          </a:p>
        </p:txBody>
      </p:sp>
      <p:sp>
        <p:nvSpPr>
          <p:cNvPr id="26" name="Shape 26"/>
          <p:cNvSpPr/>
          <p:nvPr/>
        </p:nvSpPr>
        <p:spPr>
          <a:xfrm>
            <a:off x="9850000" y="2110000"/>
            <a:ext cx="1420000" cy="43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9920000" y="2220000"/>
            <a:ext cx="12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250">
                <a:b/>
                <a:solidFill>
                  <a:srgbClr val="3730A3"/>
                </a:solidFill>
                <a:latin typeface="Microsoft YaHei"/>
                <a:ea typeface="Microsoft YaHei"/>
              </a:rPr>
              <a:t>lateral_movement</a:t>
            </a:r>
          </a:p>
        </p:txBody>
      </p:sp>
      <p:sp>
        <p:nvSpPr>
          <p:cNvPr id="28" name="Shape 28"/>
          <p:cNvSpPr/>
          <p:nvPr/>
        </p:nvSpPr>
        <p:spPr>
          <a:xfrm>
            <a:off x="8300000" y="2870000"/>
            <a:ext cx="1420000" cy="43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8370000" y="2980000"/>
            <a:ext cx="12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250">
                <a:b/>
                <a:solidFill>
                  <a:srgbClr val="3730A3"/>
                </a:solidFill>
                <a:latin typeface="Microsoft YaHei"/>
                <a:ea typeface="Microsoft YaHei"/>
              </a:rPr>
              <a:t>resource_anomaly</a:t>
            </a:r>
          </a:p>
        </p:txBody>
      </p:sp>
      <p:sp>
        <p:nvSpPr>
          <p:cNvPr id="30" name="Shape 30"/>
          <p:cNvSpPr/>
          <p:nvPr/>
        </p:nvSpPr>
        <p:spPr>
          <a:xfrm>
            <a:off x="9850000" y="2870000"/>
            <a:ext cx="1420000" cy="43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9920000" y="2980000"/>
            <a:ext cx="12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250">
                <a:b/>
                <a:solidFill>
                  <a:srgbClr val="3730A3"/>
                </a:solidFill>
                <a:latin typeface="Microsoft YaHei"/>
                <a:ea typeface="Microsoft YaHei"/>
              </a:rPr>
              <a:t>syscall_anomaly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数据采集与安全边界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run_scenarios.sh 负责按场景启动生成器、等待稳定、导出 Pixie 原始表。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所有流量限制在 anomaly-test 命名空间、测试 Nginx 服务和集群 DNS 内。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横向移动模拟只访问受控地址，不扫描真实局域网，不访问公网。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每次采集保留 manifest.csv 与 run.env，支持中断后 RESUME=1 继续。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50000" y="1300000"/>
            <a:ext cx="3000000" cy="13000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B7E4C7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620000" y="1540000"/>
            <a:ext cx="246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200">
                <a:b/>
                <a:solidFill>
                  <a:srgbClr val="14532D"/>
                </a:solidFill>
                <a:latin typeface="Microsoft YaHei"/>
                <a:ea typeface="Microsoft YaHei"/>
              </a:rPr>
              <a:t>可复现 + 可控 + 不扰动真实环境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特征工程：10 秒 Pod 窗口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build_dataset.py 将多个表按时间窗口和 Pod 聚合，形成 training_multiclass_windows.csv。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输入特征共 26 个，覆盖 CPU/内存/磁盘、网络吞吐、连接、HTTP、DNS 与传感器事件。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丢弃标签、场景名、时间、Pod 等非特征字段，避免标签泄漏。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只保留目标 Pod 且窗口覆盖率超过 50% 的多分类训练样本。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50000" y="1500000"/>
            <a:ext cx="3000000" cy="62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520000" y="1605000"/>
            <a:ext cx="12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50">
                <a:solidFill>
                  <a:srgbClr val="9A3412"/>
                </a:solidFill>
                <a:latin typeface="Microsoft YaHei"/>
                <a:ea typeface="Microsoft YaHei"/>
              </a:rPr>
              <a:t>窗口大小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9800000" y="1570000"/>
            <a:ext cx="135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2100">
                <a:b/>
                <a:solidFill>
                  <a:srgbClr val="C2410C"/>
                </a:solidFill>
                <a:latin typeface="Microsoft YaHei"/>
                <a:ea typeface="Microsoft YaHei"/>
              </a:rPr>
              <a:t>10s</a:t>
            </a:r>
          </a:p>
        </p:txBody>
      </p:sp>
      <p:sp>
        <p:nvSpPr>
          <p:cNvPr id="23" name="Shape 23"/>
          <p:cNvSpPr/>
          <p:nvPr/>
        </p:nvSpPr>
        <p:spPr>
          <a:xfrm>
            <a:off x="8350000" y="2400000"/>
            <a:ext cx="3000000" cy="62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8520000" y="2505000"/>
            <a:ext cx="12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50">
                <a:solidFill>
                  <a:srgbClr val="9A3412"/>
                </a:solidFill>
                <a:latin typeface="Microsoft YaHei"/>
                <a:ea typeface="Microsoft YaHei"/>
              </a:rPr>
              <a:t>特征数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9800000" y="2470000"/>
            <a:ext cx="135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2100">
                <a:b/>
                <a:solidFill>
                  <a:srgbClr val="C2410C"/>
                </a:solidFill>
                <a:latin typeface="Microsoft YaHei"/>
                <a:ea typeface="Microsoft YaHei"/>
              </a:rPr>
              <a:t>26</a:t>
            </a:r>
          </a:p>
        </p:txBody>
      </p:sp>
      <p:sp>
        <p:nvSpPr>
          <p:cNvPr id="26" name="Shape 26"/>
          <p:cNvSpPr/>
          <p:nvPr/>
        </p:nvSpPr>
        <p:spPr>
          <a:xfrm>
            <a:off x="8350000" y="3300000"/>
            <a:ext cx="3000000" cy="62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520000" y="3405000"/>
            <a:ext cx="12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50">
                <a:solidFill>
                  <a:srgbClr val="9A3412"/>
                </a:solidFill>
                <a:latin typeface="Microsoft YaHei"/>
                <a:ea typeface="Microsoft YaHei"/>
              </a:rPr>
              <a:t>分类目标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9800000" y="3370000"/>
            <a:ext cx="135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2100">
                <a:b/>
                <a:solidFill>
                  <a:srgbClr val="C2410C"/>
                </a:solidFill>
                <a:latin typeface="Microsoft YaHei"/>
                <a:ea typeface="Microsoft YaHei"/>
              </a:rPr>
              <a:t>6 类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标签体系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二分类 label：normal=0，任意异常=1，用于生产式告警。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六分类 class_id：0 normal，1 ddos，2 portscan，3 lateral_movement，4 resource_anomaly，5 syscall_anomaly。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attack_subtype 保留 DDoS 子类型，便于分析 HTTP/TCP/DNS 洪泛差异。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训练与评估按 run ID 分离，避免相邻窗口随机切分造成数据泄漏。</a:t>
            </a:r>
          </a:p>
        </p:txBody>
      </p:sp>
      <p:sp>
        <p:nvSpPr>
          <p:cNvPr id="20" name="Shape 20"/>
          <p:cNvSpPr/>
          <p:nvPr/>
        </p:nvSpPr>
        <p:spPr>
          <a:xfrm>
            <a:off x="8200000" y="1130000"/>
            <a:ext cx="650000" cy="43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250000" y="1245000"/>
            <a:ext cx="5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b/>
                <a:solidFill>
                  <a:srgbClr val="0F172A"/>
                </a:solidFill>
                <a:latin typeface="Microsoft YaHei"/>
                <a:ea typeface="Microsoft YaHei"/>
              </a:rPr>
              <a:t>class_id</a:t>
            </a:r>
          </a:p>
        </p:txBody>
      </p:sp>
      <p:sp>
        <p:nvSpPr>
          <p:cNvPr id="22" name="Shape 22"/>
          <p:cNvSpPr/>
          <p:nvPr/>
        </p:nvSpPr>
        <p:spPr>
          <a:xfrm>
            <a:off x="8850000" y="1130000"/>
            <a:ext cx="1300000" cy="43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900000" y="1245000"/>
            <a:ext cx="12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b/>
                <a:solidFill>
                  <a:srgbClr val="0F172A"/>
                </a:solidFill>
                <a:latin typeface="Microsoft YaHei"/>
                <a:ea typeface="Microsoft YaHei"/>
              </a:rPr>
              <a:t>类别</a:t>
            </a:r>
          </a:p>
        </p:txBody>
      </p:sp>
      <p:sp>
        <p:nvSpPr>
          <p:cNvPr id="24" name="Shape 24"/>
          <p:cNvSpPr/>
          <p:nvPr/>
        </p:nvSpPr>
        <p:spPr>
          <a:xfrm>
            <a:off x="10150000" y="1130000"/>
            <a:ext cx="1500000" cy="43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10200000" y="1245000"/>
            <a:ext cx="14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b/>
                <a:solidFill>
                  <a:srgbClr val="0F172A"/>
                </a:solidFill>
                <a:latin typeface="Microsoft YaHei"/>
                <a:ea typeface="Microsoft YaHei"/>
              </a:rPr>
              <a:t>含义</a:t>
            </a:r>
          </a:p>
        </p:txBody>
      </p:sp>
      <p:sp>
        <p:nvSpPr>
          <p:cNvPr id="26" name="Shape 26"/>
          <p:cNvSpPr/>
          <p:nvPr/>
        </p:nvSpPr>
        <p:spPr>
          <a:xfrm>
            <a:off x="8200000" y="1560000"/>
            <a:ext cx="65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250000" y="1675000"/>
            <a:ext cx="5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8" name="Shape 28"/>
          <p:cNvSpPr/>
          <p:nvPr/>
        </p:nvSpPr>
        <p:spPr>
          <a:xfrm>
            <a:off x="8850000" y="1560000"/>
            <a:ext cx="13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8900000" y="1675000"/>
            <a:ext cx="12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normal</a:t>
            </a:r>
          </a:p>
        </p:txBody>
      </p:sp>
      <p:sp>
        <p:nvSpPr>
          <p:cNvPr id="30" name="Shape 30"/>
          <p:cNvSpPr/>
          <p:nvPr/>
        </p:nvSpPr>
        <p:spPr>
          <a:xfrm>
            <a:off x="10150000" y="1560000"/>
            <a:ext cx="15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10200000" y="1675000"/>
            <a:ext cx="14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正常基线</a:t>
            </a:r>
          </a:p>
        </p:txBody>
      </p:sp>
      <p:sp>
        <p:nvSpPr>
          <p:cNvPr id="32" name="Shape 32"/>
          <p:cNvSpPr/>
          <p:nvPr/>
        </p:nvSpPr>
        <p:spPr>
          <a:xfrm>
            <a:off x="8200000" y="1990000"/>
            <a:ext cx="65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8250000" y="2105000"/>
            <a:ext cx="5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4" name="Shape 34"/>
          <p:cNvSpPr/>
          <p:nvPr/>
        </p:nvSpPr>
        <p:spPr>
          <a:xfrm>
            <a:off x="8850000" y="1990000"/>
            <a:ext cx="130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8900000" y="2105000"/>
            <a:ext cx="12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ddos</a:t>
            </a:r>
          </a:p>
        </p:txBody>
      </p:sp>
      <p:sp>
        <p:nvSpPr>
          <p:cNvPr id="36" name="Shape 36"/>
          <p:cNvSpPr/>
          <p:nvPr/>
        </p:nvSpPr>
        <p:spPr>
          <a:xfrm>
            <a:off x="10150000" y="1990000"/>
            <a:ext cx="150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10200000" y="2105000"/>
            <a:ext cx="14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HTTP/TCP/DNS 洪泛</a:t>
            </a:r>
          </a:p>
        </p:txBody>
      </p:sp>
      <p:sp>
        <p:nvSpPr>
          <p:cNvPr id="38" name="Shape 38"/>
          <p:cNvSpPr/>
          <p:nvPr/>
        </p:nvSpPr>
        <p:spPr>
          <a:xfrm>
            <a:off x="8200000" y="2420000"/>
            <a:ext cx="65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8250000" y="2535000"/>
            <a:ext cx="5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40" name="Shape 40"/>
          <p:cNvSpPr/>
          <p:nvPr/>
        </p:nvSpPr>
        <p:spPr>
          <a:xfrm>
            <a:off x="8850000" y="2420000"/>
            <a:ext cx="13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8900000" y="2535000"/>
            <a:ext cx="12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portscan</a:t>
            </a:r>
          </a:p>
        </p:txBody>
      </p:sp>
      <p:sp>
        <p:nvSpPr>
          <p:cNvPr id="42" name="Shape 42"/>
          <p:cNvSpPr/>
          <p:nvPr/>
        </p:nvSpPr>
        <p:spPr>
          <a:xfrm>
            <a:off x="10150000" y="2420000"/>
            <a:ext cx="15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10200000" y="2535000"/>
            <a:ext cx="14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端口扫描</a:t>
            </a:r>
          </a:p>
        </p:txBody>
      </p:sp>
      <p:sp>
        <p:nvSpPr>
          <p:cNvPr id="44" name="Shape 44"/>
          <p:cNvSpPr/>
          <p:nvPr/>
        </p:nvSpPr>
        <p:spPr>
          <a:xfrm>
            <a:off x="8200000" y="2850000"/>
            <a:ext cx="65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8250000" y="2965000"/>
            <a:ext cx="5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46" name="Shape 46"/>
          <p:cNvSpPr/>
          <p:nvPr/>
        </p:nvSpPr>
        <p:spPr>
          <a:xfrm>
            <a:off x="8850000" y="2850000"/>
            <a:ext cx="130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8900000" y="2965000"/>
            <a:ext cx="12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lateral_movement</a:t>
            </a:r>
          </a:p>
        </p:txBody>
      </p:sp>
      <p:sp>
        <p:nvSpPr>
          <p:cNvPr id="48" name="Shape 48"/>
          <p:cNvSpPr/>
          <p:nvPr/>
        </p:nvSpPr>
        <p:spPr>
          <a:xfrm>
            <a:off x="10150000" y="2850000"/>
            <a:ext cx="150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9" name="Text 49"/>
          <p:cNvSpPr txBox="1"/>
          <p:nvPr/>
        </p:nvSpPr>
        <p:spPr>
          <a:xfrm>
            <a:off x="10200000" y="2965000"/>
            <a:ext cx="14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横向移动</a:t>
            </a:r>
          </a:p>
        </p:txBody>
      </p:sp>
      <p:sp>
        <p:nvSpPr>
          <p:cNvPr id="50" name="Shape 50"/>
          <p:cNvSpPr/>
          <p:nvPr/>
        </p:nvSpPr>
        <p:spPr>
          <a:xfrm>
            <a:off x="8200000" y="3280000"/>
            <a:ext cx="65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51" name="Text 51"/>
          <p:cNvSpPr txBox="1"/>
          <p:nvPr/>
        </p:nvSpPr>
        <p:spPr>
          <a:xfrm>
            <a:off x="8250000" y="3395000"/>
            <a:ext cx="5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52" name="Shape 52"/>
          <p:cNvSpPr/>
          <p:nvPr/>
        </p:nvSpPr>
        <p:spPr>
          <a:xfrm>
            <a:off x="8850000" y="3280000"/>
            <a:ext cx="13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8900000" y="3395000"/>
            <a:ext cx="12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resource_anomaly</a:t>
            </a:r>
          </a:p>
        </p:txBody>
      </p:sp>
      <p:sp>
        <p:nvSpPr>
          <p:cNvPr id="54" name="Shape 54"/>
          <p:cNvSpPr/>
          <p:nvPr/>
        </p:nvSpPr>
        <p:spPr>
          <a:xfrm>
            <a:off x="10150000" y="3280000"/>
            <a:ext cx="15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10200000" y="3395000"/>
            <a:ext cx="14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资源异常</a:t>
            </a:r>
          </a:p>
        </p:txBody>
      </p:sp>
      <p:sp>
        <p:nvSpPr>
          <p:cNvPr id="56" name="Shape 56"/>
          <p:cNvSpPr/>
          <p:nvPr/>
        </p:nvSpPr>
        <p:spPr>
          <a:xfrm>
            <a:off x="8200000" y="3710000"/>
            <a:ext cx="65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8250000" y="3825000"/>
            <a:ext cx="5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58" name="Shape 58"/>
          <p:cNvSpPr/>
          <p:nvPr/>
        </p:nvSpPr>
        <p:spPr>
          <a:xfrm>
            <a:off x="8850000" y="3710000"/>
            <a:ext cx="130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59" name="Text 59"/>
          <p:cNvSpPr txBox="1"/>
          <p:nvPr/>
        </p:nvSpPr>
        <p:spPr>
          <a:xfrm>
            <a:off x="8900000" y="3825000"/>
            <a:ext cx="12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syscall_anomaly</a:t>
            </a:r>
          </a:p>
        </p:txBody>
      </p:sp>
      <p:sp>
        <p:nvSpPr>
          <p:cNvPr id="60" name="Shape 60"/>
          <p:cNvSpPr/>
          <p:nvPr/>
        </p:nvSpPr>
        <p:spPr>
          <a:xfrm>
            <a:off x="10150000" y="3710000"/>
            <a:ext cx="150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1" name="Text 61"/>
          <p:cNvSpPr txBox="1"/>
          <p:nvPr/>
        </p:nvSpPr>
        <p:spPr>
          <a:xfrm>
            <a:off x="10200000" y="3825000"/>
            <a:ext cx="14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系统调用异常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模型方案 A：Random Forest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使用 sklearn RandomForestClassifier，默认 300 棵树。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class_weight=balanced，缓解小样本类别不均衡。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直接支持多分类与二分类，模型与 feature_names 打包为 joblib。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优点：小数据表现稳定、可解释性较好、训练流程简单。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50000" y="1300000"/>
            <a:ext cx="3000000" cy="13000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B7E4C7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620000" y="1540000"/>
            <a:ext cx="246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200">
                <a:b/>
                <a:solidFill>
                  <a:srgbClr val="14532D"/>
                </a:solidFill>
                <a:latin typeface="Microsoft YaHei"/>
                <a:ea typeface="Microsoft YaHei"/>
              </a:rPr>
              <a:t>主方案：稳定准确，适合作为答辩基线模型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模型方案 B：ONNX MLP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PyTorch MLP：26 维输入 -&gt; 64 -&gt; 32 -&gt; 类别 logits。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StandardScaler 标准化输入，CrossEntropyLoss 训练。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导出 ONNX 后使用 ONNX Runtime 推理，适合跨语言部署和轻量服务化。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与随机森林在同一 held-out 数据集上比较准确率、延迟、吞吐和模型大小。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50000" y="1300000"/>
            <a:ext cx="3000000" cy="13000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B7E4C7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620000" y="1540000"/>
            <a:ext cx="246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200">
                <a:b/>
                <a:solidFill>
                  <a:srgbClr val="14532D"/>
                </a:solidFill>
                <a:latin typeface="Microsoft YaHei"/>
                <a:ea typeface="Microsoft YaHei"/>
              </a:rPr>
              <a:t>对比方案：模型小，推理快，部署友好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实验结果：准确率与 F1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训练集 runs/train-v3-bootstrap：33 个训练窗口。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评估集 runs/eval-v3-bootstrap：20 个独立窗口，按 run 分离。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Random Forest 六分类准确率 95%，macro F1 为 0.943。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ONNX MLP 六分类准确率 90%，macro F1 为 0.921。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二分类基线：Random Forest 100%，ONNX MLP 90%。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350000" y="1430000"/>
            <a:ext cx="130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00">
                <a:solidFill>
                  <a:srgbClr val="334155"/>
                </a:solidFill>
                <a:latin typeface="Microsoft YaHei"/>
                <a:ea typeface="Microsoft YaHei"/>
              </a:rPr>
              <a:t>RF six-class</a:t>
            </a:r>
          </a:p>
        </p:txBody>
      </p:sp>
      <p:sp>
        <p:nvSpPr>
          <p:cNvPr id="21" name="Shape 21"/>
          <p:cNvSpPr/>
          <p:nvPr/>
        </p:nvSpPr>
        <p:spPr>
          <a:xfrm>
            <a:off x="8350000" y="1710000"/>
            <a:ext cx="2300000" cy="180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8350000" y="1710000"/>
            <a:ext cx="2185000" cy="18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10750000" y="166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400">
                <a:b/>
                <a:solidFill>
                  <a:srgbClr val="0F172A"/>
                </a:solidFill>
                <a:latin typeface="Microsoft YaHei"/>
                <a:ea typeface="Microsoft YaHei"/>
              </a:rPr>
              <a:t>95%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350000" y="2190000"/>
            <a:ext cx="130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00">
                <a:solidFill>
                  <a:srgbClr val="334155"/>
                </a:solidFill>
                <a:latin typeface="Microsoft YaHei"/>
                <a:ea typeface="Microsoft YaHei"/>
              </a:rPr>
              <a:t>ONNX six-class</a:t>
            </a:r>
          </a:p>
        </p:txBody>
      </p:sp>
      <p:sp>
        <p:nvSpPr>
          <p:cNvPr id="25" name="Shape 25"/>
          <p:cNvSpPr/>
          <p:nvPr/>
        </p:nvSpPr>
        <p:spPr>
          <a:xfrm>
            <a:off x="8350000" y="2470000"/>
            <a:ext cx="2300000" cy="180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8350000" y="2470000"/>
            <a:ext cx="2070000" cy="18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10750000" y="242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400">
                <a:b/>
                <a:solidFill>
                  <a:srgbClr val="0F172A"/>
                </a:solidFill>
                <a:latin typeface="Microsoft YaHei"/>
                <a:ea typeface="Microsoft YaHei"/>
              </a:rPr>
              <a:t>90%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350000" y="2950000"/>
            <a:ext cx="130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00">
                <a:solidFill>
                  <a:srgbClr val="334155"/>
                </a:solidFill>
                <a:latin typeface="Microsoft YaHei"/>
                <a:ea typeface="Microsoft YaHei"/>
              </a:rPr>
              <a:t>RF binary</a:t>
            </a:r>
          </a:p>
        </p:txBody>
      </p:sp>
      <p:sp>
        <p:nvSpPr>
          <p:cNvPr id="29" name="Shape 29"/>
          <p:cNvSpPr/>
          <p:nvPr/>
        </p:nvSpPr>
        <p:spPr>
          <a:xfrm>
            <a:off x="8350000" y="3230000"/>
            <a:ext cx="2300000" cy="180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8350000" y="3230000"/>
            <a:ext cx="2300000" cy="18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10750000" y="318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400">
                <a:b/>
                <a:solidFill>
                  <a:srgbClr val="0F172A"/>
                </a:solidFill>
                <a:latin typeface="Microsoft YaHei"/>
                <a:ea typeface="Microsoft YaHei"/>
              </a:rPr>
              <a:t>100%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8350000" y="3710000"/>
            <a:ext cx="130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00">
                <a:solidFill>
                  <a:srgbClr val="334155"/>
                </a:solidFill>
                <a:latin typeface="Microsoft YaHei"/>
                <a:ea typeface="Microsoft YaHei"/>
              </a:rPr>
              <a:t>ONNX binary</a:t>
            </a:r>
          </a:p>
        </p:txBody>
      </p:sp>
      <p:sp>
        <p:nvSpPr>
          <p:cNvPr id="33" name="Shape 33"/>
          <p:cNvSpPr/>
          <p:nvPr/>
        </p:nvSpPr>
        <p:spPr>
          <a:xfrm>
            <a:off x="8350000" y="3990000"/>
            <a:ext cx="2300000" cy="180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34" name="Shape 34"/>
          <p:cNvSpPr/>
          <p:nvPr/>
        </p:nvSpPr>
        <p:spPr>
          <a:xfrm>
            <a:off x="8350000" y="3990000"/>
            <a:ext cx="2070000" cy="18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10750000" y="394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400">
                <a:b/>
                <a:solidFill>
                  <a:srgbClr val="0F172A"/>
                </a:solidFill>
                <a:latin typeface="Microsoft YaHei"/>
                <a:ea typeface="Microsoft YaHei"/>
              </a:rPr>
              <a:t>90%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实验结果：性能对比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同一 20 行 batch，重复 200 次进行进程内微基准。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Random Forest：平均延迟约 9.97 ms，p95 约 16.81 ms，模型约 678 KiB。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ONNX MLP：平均延迟约 0.006 ms，模型约 8.3 KiB。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注意：小 batch 微基准会放大 ONNX 吞吐优势，生产报告应补充更长时间、容器限额下的测试。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50000" y="1500000"/>
            <a:ext cx="3000000" cy="62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520000" y="1605000"/>
            <a:ext cx="12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50">
                <a:solidFill>
                  <a:srgbClr val="9A3412"/>
                </a:solidFill>
                <a:latin typeface="Microsoft YaHei"/>
                <a:ea typeface="Microsoft YaHei"/>
              </a:rPr>
              <a:t>RF 延迟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9800000" y="1570000"/>
            <a:ext cx="135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2100">
                <a:b/>
                <a:solidFill>
                  <a:srgbClr val="C2410C"/>
                </a:solidFill>
                <a:latin typeface="Microsoft YaHei"/>
                <a:ea typeface="Microsoft YaHei"/>
              </a:rPr>
              <a:t>9.97 ms</a:t>
            </a:r>
          </a:p>
        </p:txBody>
      </p:sp>
      <p:sp>
        <p:nvSpPr>
          <p:cNvPr id="23" name="Shape 23"/>
          <p:cNvSpPr/>
          <p:nvPr/>
        </p:nvSpPr>
        <p:spPr>
          <a:xfrm>
            <a:off x="8350000" y="2400000"/>
            <a:ext cx="3000000" cy="62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8520000" y="2505000"/>
            <a:ext cx="12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50">
                <a:solidFill>
                  <a:srgbClr val="9A3412"/>
                </a:solidFill>
                <a:latin typeface="Microsoft YaHei"/>
                <a:ea typeface="Microsoft YaHei"/>
              </a:rPr>
              <a:t>ONNX 延迟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9800000" y="2470000"/>
            <a:ext cx="135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2100">
                <a:b/>
                <a:solidFill>
                  <a:srgbClr val="C2410C"/>
                </a:solidFill>
                <a:latin typeface="Microsoft YaHei"/>
                <a:ea typeface="Microsoft YaHei"/>
              </a:rPr>
              <a:t>0.006 ms</a:t>
            </a:r>
          </a:p>
        </p:txBody>
      </p:sp>
      <p:sp>
        <p:nvSpPr>
          <p:cNvPr id="26" name="Shape 26"/>
          <p:cNvSpPr/>
          <p:nvPr/>
        </p:nvSpPr>
        <p:spPr>
          <a:xfrm>
            <a:off x="8350000" y="3300000"/>
            <a:ext cx="3000000" cy="62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520000" y="3405000"/>
            <a:ext cx="12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50">
                <a:solidFill>
                  <a:srgbClr val="9A3412"/>
                </a:solidFill>
                <a:latin typeface="Microsoft YaHei"/>
                <a:ea typeface="Microsoft YaHei"/>
              </a:rPr>
              <a:t>ONNX 模型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9800000" y="3370000"/>
            <a:ext cx="135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2100">
                <a:b/>
                <a:solidFill>
                  <a:srgbClr val="C2410C"/>
                </a:solidFill>
                <a:latin typeface="Microsoft YaHei"/>
                <a:ea typeface="Microsoft YaHei"/>
              </a:rPr>
              <a:t>8.3 KiB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实时预测与 Web Console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predict_live.sh 导出最近窗口、构建特征、调用模型并生成 predictions.csv。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默认异常概率阈值为 0.7，空信号窗口不会触发告警。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Web Console 支持选择 RF/ONNX、二分类/六分类、采集数据集、重训模型和查看任务日志。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推荐演示入口：One-click anomaly experiment，选择 DDoS、端口扫描、横向移动、CPU 或系统调用异常。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50000" y="1300000"/>
            <a:ext cx="3000000" cy="13000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B7E4C7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620000" y="1540000"/>
            <a:ext cx="246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200">
                <a:b/>
                <a:solidFill>
                  <a:srgbClr val="14532D"/>
                </a:solidFill>
                <a:latin typeface="Microsoft YaHei"/>
                <a:ea typeface="Microsoft YaHei"/>
              </a:rPr>
              <a:t>从离线训练走到在线检测闭环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项目亮点与不足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亮点 1：端到端闭环，覆盖数据采集、标注、训练、评估、部署和可视化。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亮点 2：按 run 分离训练/评估，主动规避时间窗口泄漏。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亮点 3：六分类诊断比简单异常告警更有运维价值。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不足：当前样本规模较小，conn_stats 在本地 Vizier 中为空，部分信号依赖实验传感器补充。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改进：接入生产级 eBPF 连接遥测与 Falco/Tetragon，扩大多强度、多服务、多时段数据集。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本项目实现了一个面向 Kubernetes 的机器学习异常检测系统。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随机森林在小样本 held-out 集上取得 95% 六分类准确率，可作为稳定主模型。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ONNX MLP 牺牲少量准确率，换来更小模型和更低推理延迟，适合部署对比。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系统具备一键实验、实时预测和可视化能力，已形成课程答辩可演示闭环。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50000" y="1300000"/>
            <a:ext cx="3000000" cy="13000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B7E4C7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620000" y="1540000"/>
            <a:ext cx="246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200">
                <a:b/>
                <a:solidFill>
                  <a:srgbClr val="14532D"/>
                </a:solidFill>
                <a:latin typeface="Microsoft YaHei"/>
                <a:ea typeface="Microsoft YaHei"/>
              </a:rPr>
              <a:t>谢谢老师，欢迎提问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宽屏</PresentationFormat>
  <Slides>14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机器学习系统答辩：Pixie 异常检测</dc:title>
  <dc:creator>Codex</dc:creator>
  <cp:lastModifiedBy>Codex</cp:lastModifiedBy>
  <dcterms:created xsi:type="dcterms:W3CDTF">2026-06-03T06:36:26Z</dcterms:created>
  <dcterms:modified xsi:type="dcterms:W3CDTF">2026-06-03T06:36:26Z</dcterms:modified>
</cp:coreProperties>
</file>